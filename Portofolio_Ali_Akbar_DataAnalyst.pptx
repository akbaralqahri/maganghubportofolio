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Tasks</c:v>
                </c:pt>
              </c:strCache>
            </c:strRef>
          </c:tx>
          <c:spPr>
            <a:solidFill>
              <a:srgbClr val="34D39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E6EDF3"/>
                    </a:solidFill>
                    <a:latin typeface="Courier New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Data</c:v>
                  </c:pt>
                  <c:pt idx="1">
                    <c:v>SQL</c:v>
                  </c:pt>
                  <c:pt idx="2">
                    <c:v>Dashboard</c:v>
                  </c:pt>
                  <c:pt idx="3">
                    <c:v>Laporan</c:v>
                  </c:pt>
                  <c:pt idx="4">
                    <c:v>Scraping</c:v>
                  </c:pt>
                  <c:pt idx="5">
                    <c:v>Streamlit</c:v>
                  </c:pt>
                  <c:pt idx="6">
                    <c:v>Python</c:v>
                  </c:pt>
                  <c:pt idx="7">
                    <c:v>PPT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36</c:v>
                </c:pt>
                <c:pt idx="1">
                  <c:v>34</c:v>
                </c:pt>
                <c:pt idx="2">
                  <c:v>31</c:v>
                </c:pt>
                <c:pt idx="3">
                  <c:v>18</c:v>
                </c:pt>
                <c:pt idx="4">
                  <c:v>15</c:v>
                </c:pt>
                <c:pt idx="5">
                  <c:v>14</c:v>
                </c:pt>
                <c:pt idx="6">
                  <c:v>7</c:v>
                </c:pt>
                <c:pt idx="7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E6EDF3"/>
                  </a:solidFill>
                  <a:latin typeface="Courier New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B9CB0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21B28"/>
        </a:solidFill>
        <a:ln>
          <a:noFill/>
        </a:ln>
        <a:effectLst/>
      </c:spPr>
    </c:plotArea>
    <c:plotVisOnly val="1"/>
    <c:dispBlanksAs val="span"/>
  </c:chart>
  <c:spPr>
    <a:solidFill>
      <a:srgbClr val="121B28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src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4D399"/>
              </a:solidFill>
              <a:effectLst/>
            </c:spPr>
          </c:dPt>
          <c:dPt>
            <c:idx val="1"/>
            <c:bubble3D val="0"/>
            <c:spPr>
              <a:solidFill>
                <a:srgbClr val="22D3EE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4140D"/>
                      </a:solidFill>
                      <a:latin typeface="Courier New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04140D"/>
                      </a:solidFill>
                      <a:latin typeface="Courier New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Request antar-tim</c:v>
                </c:pt>
                <c:pt idx="1">
                  <c:v>Main (rutin)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80</c:v>
                </c:pt>
                <c:pt idx="1">
                  <c:v>40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1B28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ganghubportofolio.vercel.app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maganghubportofolio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maganghubportofolio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maganghubportofolio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maganghubportofolio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hyperlink" Target="https://maganghubportofolio.vercel.app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maganghubportofolio.vercel.app" TargetMode="External"/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maganghubportofolio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maganghubportofolio.vercel.app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-2377440"/>
            <a:ext cx="6400800" cy="6400800"/>
          </a:xfrm>
          <a:prstGeom prst="ellipse">
            <a:avLst/>
          </a:prstGeom>
          <a:solidFill>
            <a:srgbClr val="059669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863840" y="3291840"/>
            <a:ext cx="6400800" cy="6400800"/>
          </a:xfrm>
          <a:prstGeom prst="ellipse">
            <a:avLst/>
          </a:prstGeom>
          <a:solidFill>
            <a:srgbClr val="22D3EE">
              <a:alpha val="1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86868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PORTFOLIO // MAGANG HUB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822960" y="141732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5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MUHAMMAD ALI</a:t>
            </a:r>
            <a:endParaRPr lang="en-US" sz="50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5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AKBAR AL-QAHRI</a:t>
            </a:r>
            <a:endParaRPr lang="en-US" sz="5000" dirty="0"/>
          </a:p>
        </p:txBody>
      </p:sp>
      <p:sp>
        <p:nvSpPr>
          <p:cNvPr id="6" name="Text 4"/>
          <p:cNvSpPr/>
          <p:nvPr/>
        </p:nvSpPr>
        <p:spPr>
          <a:xfrm>
            <a:off x="868680" y="3383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</a:t>
            </a:r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Analyst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3794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Cerebrum Edukanesia Nusantara · Bandung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4224528"/>
            <a:ext cx="676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Mengubah data mentah dari banyak database menjadi keputusan — lewat star schema dan dashboard Power BI end-to-end.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796528" y="1216152"/>
            <a:ext cx="3072384" cy="3072384"/>
          </a:xfrm>
          <a:prstGeom prst="ellipse">
            <a:avLst/>
          </a:prstGeom>
          <a:solidFill>
            <a:srgbClr val="121B28"/>
          </a:solidFill>
          <a:ln w="31750">
            <a:solidFill>
              <a:srgbClr val="34D399"/>
            </a:solidFill>
            <a:prstDash val="solid"/>
          </a:ln>
          <a:effectLst>
            <a:outerShdw sx="100000" sy="100000" kx="0" ky="0" algn="bl" rotWithShape="0" blurRad="228600" dist="63500" dir="5400000">
              <a:srgbClr val="000000">
                <a:alpha val="45000"/>
              </a:srgbClr>
            </a:outerShdw>
          </a:effectLst>
        </p:spPr>
      </p:sp>
      <p:pic>
        <p:nvPicPr>
          <p:cNvPr id="10" name="Image 0" descr="/sessions/laughing-amazing-bohr/mnt/webportomaganghub/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400" y="1335024"/>
            <a:ext cx="2834640" cy="2834640"/>
          </a:xfrm>
          <a:prstGeom prst="ellipse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68680" y="5257800"/>
            <a:ext cx="2514600" cy="960120"/>
          </a:xfrm>
          <a:prstGeom prst="roundRect">
            <a:avLst>
              <a:gd name="adj" fmla="val 8571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1033272" y="5413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1051560" y="58887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 SELESAI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611880" y="5257800"/>
            <a:ext cx="2514600" cy="960120"/>
          </a:xfrm>
          <a:prstGeom prst="roundRect">
            <a:avLst>
              <a:gd name="adj" fmla="val 8571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776472" y="5413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000" dirty="0"/>
          </a:p>
        </p:txBody>
      </p:sp>
      <p:sp>
        <p:nvSpPr>
          <p:cNvPr id="16" name="Text 13"/>
          <p:cNvSpPr/>
          <p:nvPr/>
        </p:nvSpPr>
        <p:spPr>
          <a:xfrm>
            <a:off x="3794760" y="58887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POWER BI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6355080" y="5257800"/>
            <a:ext cx="2514600" cy="960120"/>
          </a:xfrm>
          <a:prstGeom prst="roundRect">
            <a:avLst>
              <a:gd name="adj" fmla="val 8571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519672" y="5413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3.74</a:t>
            </a:r>
            <a:endParaRPr lang="en-US" sz="3000" dirty="0"/>
          </a:p>
        </p:txBody>
      </p:sp>
      <p:sp>
        <p:nvSpPr>
          <p:cNvPr id="19" name="Text 16"/>
          <p:cNvSpPr/>
          <p:nvPr/>
        </p:nvSpPr>
        <p:spPr>
          <a:xfrm>
            <a:off x="6537960" y="58887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IPK DATA SCIENCE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9098280" y="5257800"/>
            <a:ext cx="2514600" cy="960120"/>
          </a:xfrm>
          <a:prstGeom prst="roundRect">
            <a:avLst>
              <a:gd name="adj" fmla="val 8571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262872" y="5413248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3000" dirty="0"/>
          </a:p>
        </p:txBody>
      </p:sp>
      <p:sp>
        <p:nvSpPr>
          <p:cNvPr id="22" name="Text 19"/>
          <p:cNvSpPr/>
          <p:nvPr/>
        </p:nvSpPr>
        <p:spPr>
          <a:xfrm>
            <a:off x="9281160" y="5888736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 DILAYANI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868680" y="641908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🌐 maganghubportofolio.vercel.app</a:t>
            </a:r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·      akbaralqahri@gmail.com      ·      linkedin.com/in/akbaralqahri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— ABOUT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6766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 dengan kecenderungan engineering.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66751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Lulusan Data Science Telkom University (IPK 3.74) yang fokus mengubah dataset kompleks menjadi dashboard interaktif dan narasi strategis.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record membangun data pipeline end-to-end dan mengotomasi proses bisnis manual dengan Python &amp; AI — nyaman dari lapisan database (SQL, star schema, MySQL) sampai presentasi (Power BI, Streamlit).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Saat ini menjalani Magang Hub sebagai Data Analyst di PT Cerebrum Edukanesia Nusantara, melayani kebutuhan data lintas tim Management, Marketing, Produk, IT, dan VOC.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72400" y="914400"/>
            <a:ext cx="3840480" cy="4937760"/>
          </a:xfrm>
          <a:prstGeom prst="roundRect">
            <a:avLst>
              <a:gd name="adj" fmla="val 2143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92440" y="123444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0" y="1234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M. Ali Akbar Al-Qahri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092440" y="1737360"/>
            <a:ext cx="3200400" cy="0"/>
          </a:xfrm>
          <a:prstGeom prst="line">
            <a:avLst/>
          </a:prstGeom>
          <a:noFill/>
          <a:ln w="12700">
            <a:solidFill>
              <a:srgbClr val="1E2C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92440" y="189280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0" y="18928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Analyst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92440" y="2395728"/>
            <a:ext cx="3200400" cy="0"/>
          </a:xfrm>
          <a:prstGeom prst="line">
            <a:avLst/>
          </a:prstGeom>
          <a:noFill/>
          <a:ln w="12700">
            <a:solidFill>
              <a:srgbClr val="1E2C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92440" y="255117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edu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0" y="25511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 Science, Telkom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3054096"/>
            <a:ext cx="3200400" cy="0"/>
          </a:xfrm>
          <a:prstGeom prst="line">
            <a:avLst/>
          </a:prstGeom>
          <a:noFill/>
          <a:ln w="12700">
            <a:solidFill>
              <a:srgbClr val="1E2C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3209544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0" y="320954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3.74 / 4.00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92440" y="3712464"/>
            <a:ext cx="3200400" cy="0"/>
          </a:xfrm>
          <a:prstGeom prst="line">
            <a:avLst/>
          </a:prstGeom>
          <a:noFill/>
          <a:ln w="12700">
            <a:solidFill>
              <a:srgbClr val="1E2C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386791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0" y="386791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Bandung, ID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92440" y="4370832"/>
            <a:ext cx="3200400" cy="0"/>
          </a:xfrm>
          <a:prstGeom prst="line">
            <a:avLst/>
          </a:prstGeom>
          <a:noFill/>
          <a:ln w="12700">
            <a:solidFill>
              <a:srgbClr val="1E2C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92440" y="452628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focus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144000" y="452628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 · Power BI · Python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2440" y="5029200"/>
            <a:ext cx="3200400" cy="0"/>
          </a:xfrm>
          <a:prstGeom prst="line">
            <a:avLst/>
          </a:prstGeom>
          <a:noFill/>
          <a:ln w="12700">
            <a:solidFill>
              <a:srgbClr val="1E2C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092440" y="5184648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0" y="51846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 native · EN pro</a:t>
            </a:r>
            <a:endParaRPr lang="en-US" sz="1100" dirty="0"/>
          </a:p>
        </p:txBody>
      </p:sp>
      <p:sp>
        <p:nvSpPr>
          <p:cNvPr id="26" name="Text 24">
            <a:hlinkClick r:id="rId1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— 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skills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di seluruh siklus data — dari ekstraksi hingga storytelling.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4414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DATA ANALYSIS &amp; BI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89864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Power BI    SQL    Python    pandas    numpy    Looker Studio    Tableau    Excel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24028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24414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DATABASE &amp; MODELING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289864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    Star Schema    Data Warehouse    ETL    Data Modeling    Data Cleaning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29768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22960" y="44988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MACHINE LEARNING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" y="495604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scikit-learn    Random Forest    XGBoost    SVM    Time Series    Feature Eng.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172200" y="4297680"/>
            <a:ext cx="5349240" cy="1874520"/>
          </a:xfrm>
          <a:prstGeom prst="roundRect">
            <a:avLst>
              <a:gd name="adj" fmla="val 439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46520" y="449884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AI &amp; AUTOMATION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4956048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2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Streamlit    API Integration    Gemini AI    NLP    Web Scraping    Telegram Bot</a:t>
            </a:r>
            <a:endParaRPr lang="en-US" sz="1250" dirty="0"/>
          </a:p>
        </p:txBody>
      </p:sp>
      <p:sp>
        <p:nvSpPr>
          <p:cNvPr id="17" name="Text 15">
            <a:hlinkClick r:id="rId1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FEATURED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dashboard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banyak database  →  satu model  →  satu dashboard.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" y="2331720"/>
            <a:ext cx="3200400" cy="1554480"/>
          </a:xfrm>
          <a:prstGeom prst="roundRect">
            <a:avLst>
              <a:gd name="adj" fmla="val 529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960120" y="25420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Multi-Database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jadiASN · jadiBUMN · jadiOJK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sumber terpisah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77640" y="26974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4617720" y="2331720"/>
            <a:ext cx="3200400" cy="1554480"/>
          </a:xfrm>
          <a:prstGeom prst="roundRect">
            <a:avLst>
              <a:gd name="adj" fmla="val 529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46320" y="25420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Schema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84632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 + dimension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ETL → AllinMain DW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269748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8503920" y="2331720"/>
            <a:ext cx="3200400" cy="1554480"/>
          </a:xfrm>
          <a:prstGeom prst="roundRect">
            <a:avLst>
              <a:gd name="adj" fmla="val 529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732520" y="254203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BI ⇄ MySQL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732520" y="301752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connection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 real-time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31520" y="4297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[01]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508760" y="42976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&amp; integrate.  </a:t>
            </a:r>
            <a:pPr indent="0" marL="0">
              <a:buNone/>
            </a:pPr>
            <a:r>
              <a:rPr lang="en-US" sz="12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Tarik data mentah dari beberapa MySQL DB, jaga integritas saat digabung.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4297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[02]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086600" y="42976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schema modeling.  </a:t>
            </a:r>
            <a:pPr indent="0" marL="0">
              <a:buNone/>
            </a:pPr>
            <a:r>
              <a:rPr lang="en-US" sz="12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Rancang fakta &amp; dimensi agar query cepat dan relasi bersih.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5349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[03]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508760" y="53492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Power BI.  </a:t>
            </a:r>
            <a:pPr indent="0" marL="0">
              <a:buNone/>
            </a:pPr>
            <a:r>
              <a:rPr lang="en-US" sz="12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Hubungkan Power BI ke MySQL — update tanpa ekspor manual.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53492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[04]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086600" y="53492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Decision-ready.  </a:t>
            </a:r>
            <a:pPr indent="0" marL="0">
              <a:buNone/>
            </a:pPr>
            <a:r>
              <a:rPr lang="en-US" sz="12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 revenue, user, &amp; paket siap untuk keputusan strategis.</a:t>
            </a:r>
            <a:endParaRPr lang="en-US" sz="1200" dirty="0"/>
          </a:p>
        </p:txBody>
      </p:sp>
      <p:sp>
        <p:nvSpPr>
          <p:cNvPr id="24" name="Text 22">
            <a:hlinkClick r:id="rId1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— DATA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4980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 schema: satu Fact, dikelilingi Dimension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034540" y="2084832"/>
            <a:ext cx="4069080" cy="1618488"/>
          </a:xfrm>
          <a:prstGeom prst="line">
            <a:avLst/>
          </a:prstGeom>
          <a:noFill/>
          <a:ln w="19050">
            <a:solidFill>
              <a:srgbClr val="2A3D54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6103620" y="2084832"/>
            <a:ext cx="0" cy="1618488"/>
          </a:xfrm>
          <a:prstGeom prst="line">
            <a:avLst/>
          </a:prstGeom>
          <a:noFill/>
          <a:ln w="19050">
            <a:solidFill>
              <a:srgbClr val="2A3D54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 flipV="1">
            <a:off x="6103620" y="2084832"/>
            <a:ext cx="4069080" cy="1618488"/>
          </a:xfrm>
          <a:prstGeom prst="line">
            <a:avLst/>
          </a:prstGeom>
          <a:noFill/>
          <a:ln w="19050">
            <a:solidFill>
              <a:srgbClr val="2A3D54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 flipV="1">
            <a:off x="2034540" y="3703320"/>
            <a:ext cx="4069080" cy="1645920"/>
          </a:xfrm>
          <a:prstGeom prst="line">
            <a:avLst/>
          </a:prstGeom>
          <a:noFill/>
          <a:ln w="19050">
            <a:solidFill>
              <a:srgbClr val="2A3D54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103620" y="3703320"/>
            <a:ext cx="0" cy="1645920"/>
          </a:xfrm>
          <a:prstGeom prst="line">
            <a:avLst/>
          </a:prstGeom>
          <a:noFill/>
          <a:ln w="19050">
            <a:solidFill>
              <a:srgbClr val="2A3D54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6103620" y="3703320"/>
            <a:ext cx="4069080" cy="1645920"/>
          </a:xfrm>
          <a:prstGeom prst="line">
            <a:avLst/>
          </a:prstGeom>
          <a:noFill/>
          <a:ln w="19050">
            <a:solidFill>
              <a:srgbClr val="2A3D54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914400" y="1627632"/>
            <a:ext cx="224028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078992" y="173736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DimDate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78992" y="2084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(PK) · attributes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983480" y="1627632"/>
            <a:ext cx="224028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148072" y="173736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DimUser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148072" y="2084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(PK) · attributes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052560" y="1627632"/>
            <a:ext cx="224028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17152" y="1737360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DimPackage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217152" y="2084832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(PK) · attributes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14400" y="4892040"/>
            <a:ext cx="224028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078992" y="500176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DimPayment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8992" y="5349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(PK) · attributes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983480" y="4892040"/>
            <a:ext cx="224028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148072" y="500176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DimPlatform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148072" y="5349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(PK) · attributes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052560" y="4892040"/>
            <a:ext cx="224028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17152" y="5001768"/>
            <a:ext cx="1965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◈ DimContent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217152" y="534924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(PK) · attributes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983480" y="2834640"/>
            <a:ext cx="2240280" cy="1737360"/>
          </a:xfrm>
          <a:prstGeom prst="roundRect">
            <a:avLst>
              <a:gd name="adj" fmla="val 4737"/>
            </a:avLst>
          </a:prstGeom>
          <a:solidFill>
            <a:srgbClr val="059669"/>
          </a:solidFill>
          <a:ln w="25400">
            <a:solidFill>
              <a:srgbClr val="34D399"/>
            </a:solidFill>
            <a:prstDash val="solid"/>
          </a:ln>
          <a:effectLst>
            <a:outerShdw sx="100000" sy="100000" kx="0" ky="0" algn="bl" rotWithShape="0" blurRad="203200" dist="50800" dir="5400000">
              <a:srgbClr val="000000">
                <a:alpha val="4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166360" y="2980944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★ FactSales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5166360" y="3383280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AF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sales_id  PK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AF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date_key  FK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AF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user_key  FK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AF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package_key  FK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EAF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· qty · discount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40080" y="5897880"/>
            <a:ext cx="2606040" cy="502920"/>
          </a:xfrm>
          <a:prstGeom prst="roundRect">
            <a:avLst>
              <a:gd name="adj" fmla="val 1636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804672" y="5897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10+ tabel dimensi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9000" y="5897880"/>
            <a:ext cx="2606040" cy="502920"/>
          </a:xfrm>
          <a:prstGeom prst="roundRect">
            <a:avLst>
              <a:gd name="adj" fmla="val 1636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3593592" y="5897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fact table · Sales &amp; Activity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5897880"/>
            <a:ext cx="2606040" cy="502920"/>
          </a:xfrm>
          <a:prstGeom prst="roundRect">
            <a:avLst>
              <a:gd name="adj" fmla="val 1636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82512" y="5897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source_app pembeda platform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006840" y="5897880"/>
            <a:ext cx="2606040" cy="502920"/>
          </a:xfrm>
          <a:prstGeom prst="roundRect">
            <a:avLst>
              <a:gd name="adj" fmla="val 16364"/>
            </a:avLst>
          </a:prstGeom>
          <a:solidFill>
            <a:srgbClr val="16212F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9171432" y="589788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Bridge table many-to-many</a:t>
            </a:r>
            <a:endParaRPr lang="en-US" sz="1000" dirty="0"/>
          </a:p>
        </p:txBody>
      </p:sp>
      <p:sp>
        <p:nvSpPr>
          <p:cNvPr id="39" name="Text 37">
            <a:hlinkClick r:id="rId1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— OUTPUT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showcase — Power BI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2395728"/>
          </a:xfrm>
          <a:prstGeom prst="roundRect">
            <a:avLst>
              <a:gd name="adj" fmla="val 3435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5" name="Image 0" descr="/sessions/laughing-amazing-bohr/mnt/webportomaganghub/dashboard-revenu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1664208"/>
            <a:ext cx="5129784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&amp; Transactions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 Revenue 24.68bn · 199.76K user · 2.68bn transaksi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172200" y="1554480"/>
            <a:ext cx="5349240" cy="2395728"/>
          </a:xfrm>
          <a:prstGeom prst="roundRect">
            <a:avLst>
              <a:gd name="adj" fmla="val 3435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9" name="Image 1" descr="/sessions/laughing-amazing-bohr/mnt/webportomaganghub/dashboard-user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81928" y="1664208"/>
            <a:ext cx="5129784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5508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&amp; Performance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6355080" y="356616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914.48K user · conversion 17.6% · segmentasi platform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548640" y="4096512"/>
            <a:ext cx="5349240" cy="2395728"/>
          </a:xfrm>
          <a:prstGeom prst="roundRect">
            <a:avLst>
              <a:gd name="adj" fmla="val 3435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3" name="Image 2" descr="/sessions/laughing-amazing-bohr/mnt/webportomaganghub/dashboard-packa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58368" y="4206240"/>
            <a:ext cx="5129784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731520" y="583387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Package Pricing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731520" y="610819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Harga &amp; diskon per price-segment · avg price · ARPU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6172200" y="4096512"/>
            <a:ext cx="5349240" cy="2395728"/>
          </a:xfrm>
          <a:prstGeom prst="roundRect">
            <a:avLst>
              <a:gd name="adj" fmla="val 3435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pic>
        <p:nvPicPr>
          <p:cNvPr id="17" name="Image 3" descr="/sessions/laughing-amazing-bohr/mnt/webportomaganghub/dashboard-activity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81928" y="4206240"/>
            <a:ext cx="5129784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55080" y="583387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Activity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355080" y="610819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Tryout · Latsol · Course · Liveclass lintas platform</a:t>
            </a:r>
            <a:endParaRPr lang="en-US" sz="900" dirty="0"/>
          </a:p>
        </p:txBody>
      </p:sp>
      <p:sp>
        <p:nvSpPr>
          <p:cNvPr id="20" name="Text 14">
            <a:hlinkClick r:id="rId5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— TRACK RECORD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Rekap pekerjaan magang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pekerjaan · Feb–Jun 2026 · lintas divisi Cerebrum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8368" y="2029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76656" y="250545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103120" y="192024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212848" y="2029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231136" y="250545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0" y="192024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67328" y="2029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785616" y="250545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Bulan aktif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212080" y="1920240"/>
            <a:ext cx="141732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21808" y="202996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5340096" y="2505456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Deliverable terlink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48640" y="3154680"/>
            <a:ext cx="5943600" cy="3246120"/>
          </a:xfrm>
          <a:prstGeom prst="roundRect">
            <a:avLst>
              <a:gd name="adj" fmla="val 2535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7724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JENIS PEKERJAAN</a:t>
            </a:r>
            <a:endParaRPr lang="en-US" sz="11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640080" y="3611880"/>
          <a:ext cx="57607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" name="Shape 17"/>
          <p:cNvSpPr/>
          <p:nvPr/>
        </p:nvSpPr>
        <p:spPr>
          <a:xfrm>
            <a:off x="6720840" y="3154680"/>
            <a:ext cx="4892040" cy="3246120"/>
          </a:xfrm>
          <a:prstGeom prst="roundRect">
            <a:avLst>
              <a:gd name="adj" fmla="val 2535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6949440" y="3291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SUMBER PERMINTAAN</a:t>
            </a:r>
            <a:endParaRPr lang="en-US" sz="110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6766560" y="3566160"/>
          <a:ext cx="26517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3" name="Text 19"/>
          <p:cNvSpPr/>
          <p:nvPr/>
        </p:nvSpPr>
        <p:spPr>
          <a:xfrm>
            <a:off x="9464040" y="42976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Request — 80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9464040" y="470916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■ </a:t>
            </a:r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 — 40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9464040" y="52120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Divisi: Produk 62 · Marketing 30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Management 24 · IT 22 · VOC 3</a:t>
            </a:r>
            <a:endParaRPr lang="en-US" sz="950" dirty="0"/>
          </a:p>
        </p:txBody>
      </p:sp>
      <p:sp>
        <p:nvSpPr>
          <p:cNvPr id="26" name="Text 22">
            <a:hlinkClick r:id="rId3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—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&amp; impact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streamlit app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777240" y="213055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Cerezoom Analyst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743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Analisis data Zoom untuk memantau liveclass — Python &amp; Streamlit, deployed live.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79392" y="160020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07992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pricing tool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507992" y="213055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Cerepackage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07992" y="2743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analisis &amp; optimasi harga paket untuk strategi pricing marketing.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10144" y="160020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38744" y="17830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quality control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238744" y="213055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Soal Duplikat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38744" y="274320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Deteksi soal duplikat (ASN, BUMN) — SQL + Streamlit menjaga kualitas konten.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93192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77240" y="41148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automation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77240" y="446227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Generator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77240" y="5074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Otomasi pembuatan laporan, memangkas proses manual berulang.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279392" y="393192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07992" y="41148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business analysis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07992" y="446227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&amp; Forecast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507992" y="5074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Analisa 5 kompetitor, prediksi user 2026, root-cause penurunan Cerebrum.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010144" y="3931920"/>
            <a:ext cx="3520440" cy="2148840"/>
          </a:xfrm>
          <a:prstGeom prst="roundRect">
            <a:avLst>
              <a:gd name="adj" fmla="val 383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238744" y="41148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data engineering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38744" y="4462272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Warehouse AllinMain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238744" y="507492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Konsolidasi data lintas platform + mapping package–journey antar dimensi.</a:t>
            </a:r>
            <a:endParaRPr lang="en-US" sz="1100" dirty="0"/>
          </a:p>
        </p:txBody>
      </p:sp>
      <p:sp>
        <p:nvSpPr>
          <p:cNvPr id="28" name="Text 26">
            <a:hlinkClick r:id="rId1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 — PATH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194560"/>
            <a:ext cx="0" cy="3840480"/>
          </a:xfrm>
          <a:prstGeom prst="line">
            <a:avLst/>
          </a:prstGeom>
          <a:noFill/>
          <a:ln w="19050">
            <a:solidFill>
              <a:srgbClr val="2A3D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" y="2148840"/>
            <a:ext cx="201168" cy="201168"/>
          </a:xfrm>
          <a:prstGeom prst="ellipse">
            <a:avLst/>
          </a:prstGeom>
          <a:solidFill>
            <a:srgbClr val="34D399"/>
          </a:solidFill>
          <a:ln w="25400">
            <a:solidFill>
              <a:srgbClr val="34D3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Nov 2025 — Sekarang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280160" y="2386584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280160" y="26974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Cerebrum Edukanesia Nusantara · Bandung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280160" y="2935224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data end-to-end dari MySQL, transformasi &amp; cleaning, dashboard Power BI interaktif untuk keputusan strategis.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13816" y="3227832"/>
            <a:ext cx="201168" cy="201168"/>
          </a:xfrm>
          <a:prstGeom prst="ellipse">
            <a:avLst/>
          </a:prstGeom>
          <a:solidFill>
            <a:srgbClr val="0A0E14"/>
          </a:solidFill>
          <a:ln w="25400">
            <a:solidFill>
              <a:srgbClr val="5A6B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80160" y="31821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Jun 2025 — Nov 2025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80160" y="3465576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 Engineer (Freelance)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80160" y="3776472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Garda Abdi Negara · Remote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4014216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Solusi AI Google Gemini API (akurasi 92%); otomasi konversi 10K+ soal untuk 200+ user, hemat waktu 75%.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" y="4306824"/>
            <a:ext cx="201168" cy="201168"/>
          </a:xfrm>
          <a:prstGeom prst="ellipse">
            <a:avLst/>
          </a:prstGeom>
          <a:solidFill>
            <a:srgbClr val="0A0E14"/>
          </a:solidFill>
          <a:ln w="25400">
            <a:solidFill>
              <a:srgbClr val="5A6B7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80160" y="426110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Feb 2024 — Jun 2025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280160" y="4544568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Science Teaching Assistant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4855464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 University · Bandung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5093208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Workshop Python &amp; SQL meningkatkan performa mahasiswa 30%; mengevaluasi 500+ tugas.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3816" y="5385816"/>
            <a:ext cx="201168" cy="201168"/>
          </a:xfrm>
          <a:prstGeom prst="ellipse">
            <a:avLst/>
          </a:prstGeom>
          <a:solidFill>
            <a:srgbClr val="0A0E14"/>
          </a:solidFill>
          <a:ln w="25400">
            <a:solidFill>
              <a:srgbClr val="5A6B7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0160" y="53400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 2024 — Okt 2024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280160" y="56235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 Intern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934456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 Indonesia · KPw Sulsel · Makassar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280160" y="6172200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dashboard strategis (kepuasan 85%); otomasi Power BI memangkas waktu reporting 40%.</a:t>
            </a:r>
            <a:endParaRPr lang="en-US" sz="1050" dirty="0"/>
          </a:p>
        </p:txBody>
      </p:sp>
      <p:sp>
        <p:nvSpPr>
          <p:cNvPr id="25" name="Text 23">
            <a:hlinkClick r:id="rId1" tooltip=""/>
          </p:cNvPr>
          <p:cNvSpPr/>
          <p:nvPr/>
        </p:nvSpPr>
        <p:spPr>
          <a:xfrm>
            <a:off x="548640" y="64465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↗ maganghubportofolio.vercel.app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91840" y="-2743200"/>
            <a:ext cx="5486400" cy="5486400"/>
          </a:xfrm>
          <a:prstGeom prst="ellipse">
            <a:avLst/>
          </a:prstGeom>
          <a:solidFill>
            <a:srgbClr val="059669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828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34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 — CONTACT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224028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 bicara data.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48640" y="338328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C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Terbuka untuk peran Data Analyst, kolaborasi, atau bertukar pikiran soal dashboard &amp; pipeline.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4206240"/>
            <a:ext cx="352044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42062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akbaralqahri@gmail.com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0" y="4206240"/>
            <a:ext cx="352044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2628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166360" y="42062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linkedin.com/in/akbaralqahri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046720" y="4206240"/>
            <a:ext cx="3520440" cy="914400"/>
          </a:xfrm>
          <a:prstGeom prst="roundRect">
            <a:avLst>
              <a:gd name="adj" fmla="val 9000"/>
            </a:avLst>
          </a:prstGeom>
          <a:solidFill>
            <a:srgbClr val="121B28"/>
          </a:solidFill>
          <a:ln w="12700">
            <a:solidFill>
              <a:srgbClr val="1E2C3D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275320" y="4206240"/>
            <a:ext cx="640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915400" y="420624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085-211-944-977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5349240"/>
            <a:ext cx="6766560" cy="658368"/>
          </a:xfrm>
          <a:prstGeom prst="roundRect">
            <a:avLst>
              <a:gd name="adj" fmla="val 16667"/>
            </a:avLst>
          </a:prstGeom>
          <a:solidFill>
            <a:srgbClr val="059669"/>
          </a:solidFill>
          <a:ln w="19050">
            <a:solidFill>
              <a:srgbClr val="34D399"/>
            </a:solidFill>
            <a:prstDash val="solid"/>
          </a:ln>
          <a:effectLst>
            <a:outerShdw sx="100000" sy="100000" kx="0" ky="0" algn="bl" rotWithShape="0" blurRad="152400" dist="38100" dir="5400000">
              <a:srgbClr val="000000">
                <a:alpha val="45000"/>
              </a:srgbClr>
            </a:outerShdw>
          </a:effectLst>
        </p:spPr>
      </p:sp>
      <p:sp>
        <p:nvSpPr>
          <p:cNvPr id="16" name="Text 14">
            <a:hlinkClick r:id="rIdundefined" tooltip=""/>
          </p:cNvPr>
          <p:cNvSpPr/>
          <p:nvPr/>
        </p:nvSpPr>
        <p:spPr>
          <a:xfrm>
            <a:off x="548640" y="5349240"/>
            <a:ext cx="6766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u="sng" dirty="0">
                <a:solidFill>
                  <a:srgbClr val="EAFF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🌐  Live portfolio  —  </a:t>
            </a:r>
            <a:pPr algn="ctr"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undefined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maganghubportofolio.vercel.app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6309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with data · SQL · Power BI · Python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Analyst Portfolio</dc:title>
  <dc:subject>PptxGenJS Presentation</dc:subject>
  <dc:creator>Muhammad Ali Akbar Al-Qahri</dc:creator>
  <cp:lastModifiedBy>Muhammad Ali Akbar Al-Qahri</cp:lastModifiedBy>
  <cp:revision>1</cp:revision>
  <dcterms:created xsi:type="dcterms:W3CDTF">2026-06-22T06:37:12Z</dcterms:created>
  <dcterms:modified xsi:type="dcterms:W3CDTF">2026-06-22T06:37:12Z</dcterms:modified>
</cp:coreProperties>
</file>